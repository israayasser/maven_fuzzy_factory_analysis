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lmarai Bold" panose="020B0604020202020204" charset="-78"/>
      <p:regular r:id="rId18"/>
    </p:embeddedFont>
    <p:embeddedFont>
      <p:font typeface="Archivo Black" panose="020B0604020202020204" charset="0"/>
      <p:regular r:id="rId19"/>
    </p:embeddedFont>
    <p:embeddedFont>
      <p:font typeface="Barbra SemiCondensed" panose="020B0604020202020204" charset="0"/>
      <p:regular r:id="rId20"/>
    </p:embeddedFont>
    <p:embeddedFont>
      <p:font typeface="League Spartan" panose="020B0604020202020204" charset="0"/>
      <p:regular r:id="rId21"/>
    </p:embeddedFont>
    <p:embeddedFont>
      <p:font typeface="Londrina Solid" panose="020B0604020202020204" charset="0"/>
      <p:regular r:id="rId22"/>
    </p:embeddedFont>
    <p:embeddedFont>
      <p:font typeface="Shrikhan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5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1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6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Relationship Id="rId9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26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10" Type="http://schemas.openxmlformats.org/officeDocument/2006/relationships/image" Target="../media/image37.jpeg"/><Relationship Id="rId4" Type="http://schemas.openxmlformats.org/officeDocument/2006/relationships/image" Target="../media/image5.png"/><Relationship Id="rId9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8052" y="7707915"/>
            <a:ext cx="4658657" cy="75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spc="-154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Rahma Hassan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14672" y="7707915"/>
            <a:ext cx="4658657" cy="75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 spc="-154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Esraa Yasser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73553" y="7707915"/>
            <a:ext cx="4658657" cy="75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 spc="-154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Basma Sherbeni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01441" y="8837947"/>
            <a:ext cx="4658657" cy="75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 spc="-154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Kerilos Gerges</a:t>
            </a:r>
          </a:p>
        </p:txBody>
      </p:sp>
      <p:sp>
        <p:nvSpPr>
          <p:cNvPr id="7" name="AutoShape 7"/>
          <p:cNvSpPr/>
          <p:nvPr/>
        </p:nvSpPr>
        <p:spPr>
          <a:xfrm flipH="1">
            <a:off x="5736664" y="7793640"/>
            <a:ext cx="0" cy="669256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H="1">
            <a:off x="12549653" y="7793640"/>
            <a:ext cx="0" cy="669256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>
            <a:off x="9163050" y="8923672"/>
            <a:ext cx="0" cy="669256"/>
          </a:xfrm>
          <a:prstGeom prst="line">
            <a:avLst/>
          </a:prstGeom>
          <a:ln w="381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067925" y="8837947"/>
            <a:ext cx="4658657" cy="75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 spc="-154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Fady Ibrahim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55210" t="-89889" r="-55212" b="1210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97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19689" t="-73739" r="-19690" b="-40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972" y="1800131"/>
            <a:ext cx="18237028" cy="8379980"/>
          </a:xfrm>
          <a:custGeom>
            <a:avLst/>
            <a:gdLst/>
            <a:ahLst/>
            <a:cxnLst/>
            <a:rect l="l" t="t" r="r" b="b"/>
            <a:pathLst>
              <a:path w="18237028" h="8379980">
                <a:moveTo>
                  <a:pt x="0" y="0"/>
                </a:moveTo>
                <a:lnTo>
                  <a:pt x="18237028" y="0"/>
                </a:lnTo>
                <a:lnTo>
                  <a:pt x="18237028" y="8379980"/>
                </a:lnTo>
                <a:lnTo>
                  <a:pt x="0" y="8379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458" b="-914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18282" y="505770"/>
            <a:ext cx="18079318" cy="11315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1"/>
              </a:lnSpc>
            </a:pPr>
            <a:r>
              <a:rPr lang="en-US" sz="8001" dirty="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Londrina Solid"/>
                <a:ea typeface="Londrina Solid"/>
                <a:cs typeface="Londrina Solid"/>
                <a:sym typeface="Londrina Solid"/>
              </a:rPr>
              <a:t>Maven Fuzzy factory performance analysis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807376"/>
            <a:ext cx="9525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88706" y="110832"/>
            <a:ext cx="11910588" cy="1107104"/>
            <a:chOff x="0" y="0"/>
            <a:chExt cx="3136945" cy="291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6945" cy="291583"/>
            </a:xfrm>
            <a:custGeom>
              <a:avLst/>
              <a:gdLst/>
              <a:ahLst/>
              <a:cxnLst/>
              <a:rect l="l" t="t" r="r" b="b"/>
              <a:pathLst>
                <a:path w="3136945" h="291583">
                  <a:moveTo>
                    <a:pt x="33150" y="0"/>
                  </a:moveTo>
                  <a:lnTo>
                    <a:pt x="3103795" y="0"/>
                  </a:lnTo>
                  <a:cubicBezTo>
                    <a:pt x="3112587" y="0"/>
                    <a:pt x="3121019" y="3493"/>
                    <a:pt x="3127236" y="9709"/>
                  </a:cubicBezTo>
                  <a:cubicBezTo>
                    <a:pt x="3133453" y="15926"/>
                    <a:pt x="3136945" y="24358"/>
                    <a:pt x="3136945" y="33150"/>
                  </a:cubicBezTo>
                  <a:lnTo>
                    <a:pt x="3136945" y="258433"/>
                  </a:lnTo>
                  <a:cubicBezTo>
                    <a:pt x="3136945" y="267225"/>
                    <a:pt x="3133453" y="275657"/>
                    <a:pt x="3127236" y="281873"/>
                  </a:cubicBezTo>
                  <a:cubicBezTo>
                    <a:pt x="3121019" y="288090"/>
                    <a:pt x="3112587" y="291583"/>
                    <a:pt x="3103795" y="291583"/>
                  </a:cubicBezTo>
                  <a:lnTo>
                    <a:pt x="33150" y="291583"/>
                  </a:lnTo>
                  <a:cubicBezTo>
                    <a:pt x="24358" y="291583"/>
                    <a:pt x="15926" y="288090"/>
                    <a:pt x="9709" y="281873"/>
                  </a:cubicBezTo>
                  <a:cubicBezTo>
                    <a:pt x="3493" y="275657"/>
                    <a:pt x="0" y="267225"/>
                    <a:pt x="0" y="258433"/>
                  </a:cubicBezTo>
                  <a:lnTo>
                    <a:pt x="0" y="33150"/>
                  </a:lnTo>
                  <a:cubicBezTo>
                    <a:pt x="0" y="24358"/>
                    <a:pt x="3493" y="15926"/>
                    <a:pt x="9709" y="9709"/>
                  </a:cubicBezTo>
                  <a:cubicBezTo>
                    <a:pt x="15926" y="3493"/>
                    <a:pt x="24358" y="0"/>
                    <a:pt x="331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36945" cy="329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29881" y="147270"/>
            <a:ext cx="13228239" cy="1019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9"/>
              </a:lnSpc>
            </a:pPr>
            <a:r>
              <a:rPr lang="en-US" sz="6699">
                <a:gradFill>
                  <a:gsLst>
                    <a:gs pos="0">
                      <a:srgbClr val="E8ECED">
                        <a:alpha val="100000"/>
                      </a:srgbClr>
                    </a:gs>
                    <a:gs pos="100000">
                      <a:srgbClr val="A9AAAF">
                        <a:alpha val="100000"/>
                      </a:srgbClr>
                    </a:gs>
                  </a:gsLst>
                  <a:lin ang="540000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Project Summary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69142" y="1704175"/>
            <a:ext cx="3067868" cy="3059209"/>
            <a:chOff x="0" y="0"/>
            <a:chExt cx="862340" cy="859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8641" y="161328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968" y="3286934"/>
            <a:ext cx="2548216" cy="1200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999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Data</a:t>
            </a:r>
          </a:p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999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Quality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011848" y="1704175"/>
            <a:ext cx="3067868" cy="3059209"/>
            <a:chOff x="0" y="0"/>
            <a:chExt cx="862340" cy="859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51347" y="161328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54553" y="1704175"/>
            <a:ext cx="3067868" cy="3059209"/>
            <a:chOff x="0" y="0"/>
            <a:chExt cx="862340" cy="8599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494052" y="161328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297258" y="1704175"/>
            <a:ext cx="3067868" cy="3059209"/>
            <a:chOff x="0" y="0"/>
            <a:chExt cx="862340" cy="85990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136757" y="161328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939964" y="1704175"/>
            <a:ext cx="3067868" cy="3059209"/>
            <a:chOff x="0" y="0"/>
            <a:chExt cx="862340" cy="8599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779463" y="1551869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05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69142" y="5911105"/>
            <a:ext cx="3067868" cy="3059209"/>
            <a:chOff x="0" y="0"/>
            <a:chExt cx="862340" cy="8599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08641" y="582021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06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011848" y="5911105"/>
            <a:ext cx="3067868" cy="3059209"/>
            <a:chOff x="0" y="0"/>
            <a:chExt cx="862340" cy="85990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4851347" y="582021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07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654553" y="5911105"/>
            <a:ext cx="3067868" cy="3059209"/>
            <a:chOff x="0" y="0"/>
            <a:chExt cx="862340" cy="8599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8494052" y="582021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08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1297258" y="5911105"/>
            <a:ext cx="3067868" cy="3059209"/>
            <a:chOff x="0" y="0"/>
            <a:chExt cx="862340" cy="85990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41" name="TextBox 41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136757" y="5820217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09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4939964" y="5911105"/>
            <a:ext cx="3067868" cy="3059209"/>
            <a:chOff x="0" y="0"/>
            <a:chExt cx="862340" cy="85990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70000"/>
                  </a:srgbClr>
                </a:gs>
                <a:gs pos="100000">
                  <a:srgbClr val="613659">
                    <a:alpha val="7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45" name="TextBox 45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5779463" y="5758799"/>
            <a:ext cx="1388870" cy="148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11"/>
              </a:lnSpc>
              <a:spcBef>
                <a:spcPct val="0"/>
              </a:spcBef>
            </a:pPr>
            <a:r>
              <a:rPr lang="en-US" sz="82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10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74849" y="3258392"/>
            <a:ext cx="254821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Growth</a:t>
            </a:r>
          </a:p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Story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51216" y="3567955"/>
            <a:ext cx="312312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Efficiency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952856" y="2948830"/>
            <a:ext cx="3808591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Channel Mix </a:t>
            </a:r>
          </a:p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&amp;</a:t>
            </a:r>
          </a:p>
          <a:p>
            <a:pPr marL="0" lvl="0" indent="0" algn="ctr">
              <a:lnSpc>
                <a:spcPts val="4938"/>
              </a:lnSpc>
              <a:spcBef>
                <a:spcPct val="0"/>
              </a:spcBef>
            </a:pPr>
            <a:r>
              <a:rPr lang="en-US" sz="4115" u="none" strike="noStrike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Resilience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569603" y="3258392"/>
            <a:ext cx="380859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Conversion Funnel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-724054" y="7153339"/>
            <a:ext cx="5254261" cy="16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9"/>
              </a:lnSpc>
            </a:pPr>
            <a:r>
              <a:rPr lang="en-US" sz="369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Landing</a:t>
            </a:r>
          </a:p>
          <a:p>
            <a:pPr algn="ctr">
              <a:lnSpc>
                <a:spcPts val="4429"/>
              </a:lnSpc>
            </a:pPr>
            <a:r>
              <a:rPr lang="en-US" sz="369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&amp;</a:t>
            </a:r>
          </a:p>
          <a:p>
            <a:pPr algn="ctr">
              <a:lnSpc>
                <a:spcPts val="4429"/>
              </a:lnSpc>
            </a:pPr>
            <a:r>
              <a:rPr lang="en-US" sz="369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Billing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462239" y="7067515"/>
            <a:ext cx="4173436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Margin</a:t>
            </a:r>
          </a:p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&amp;</a:t>
            </a:r>
          </a:p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 Refunding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126060" y="7377077"/>
            <a:ext cx="41734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Cross-sell</a:t>
            </a:r>
          </a:p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Matrix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22421" y="7377077"/>
            <a:ext cx="41734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Repeating Customers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365127" y="7377077"/>
            <a:ext cx="41734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8"/>
              </a:lnSpc>
            </a:pPr>
            <a:r>
              <a:rPr lang="en-US" sz="411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Strategic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-1271716" y="2362411"/>
            <a:ext cx="4449213" cy="20"/>
          </a:xfrm>
          <a:prstGeom prst="line">
            <a:avLst/>
          </a:prstGeom>
          <a:ln w="9525" cap="rnd">
            <a:solidFill>
              <a:srgbClr val="15110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>
            <a:off x="10758162" y="2352886"/>
            <a:ext cx="3310133" cy="0"/>
          </a:xfrm>
          <a:prstGeom prst="line">
            <a:avLst/>
          </a:prstGeom>
          <a:ln w="9525" cap="rnd">
            <a:solidFill>
              <a:srgbClr val="15110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0" y="2121868"/>
            <a:ext cx="2350634" cy="471561"/>
            <a:chOff x="0" y="0"/>
            <a:chExt cx="5737493" cy="1151000"/>
          </a:xfrm>
        </p:grpSpPr>
        <p:sp>
          <p:nvSpPr>
            <p:cNvPr id="5" name="Freeform 5"/>
            <p:cNvSpPr/>
            <p:nvPr/>
          </p:nvSpPr>
          <p:spPr>
            <a:xfrm>
              <a:off x="10424" y="12700"/>
              <a:ext cx="5716650" cy="1125601"/>
            </a:xfrm>
            <a:custGeom>
              <a:avLst/>
              <a:gdLst/>
              <a:ahLst/>
              <a:cxnLst/>
              <a:rect l="l" t="t" r="r" b="b"/>
              <a:pathLst>
                <a:path w="5716650" h="1125601">
                  <a:moveTo>
                    <a:pt x="5716650" y="0"/>
                  </a:moveTo>
                  <a:lnTo>
                    <a:pt x="0" y="0"/>
                  </a:lnTo>
                  <a:lnTo>
                    <a:pt x="0" y="1125601"/>
                  </a:lnTo>
                  <a:lnTo>
                    <a:pt x="5716650" y="1125601"/>
                  </a:ln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737499" cy="1151001"/>
            </a:xfrm>
            <a:custGeom>
              <a:avLst/>
              <a:gdLst/>
              <a:ahLst/>
              <a:cxnLst/>
              <a:rect l="l" t="t" r="r" b="b"/>
              <a:pathLst>
                <a:path w="5737499" h="1151001">
                  <a:moveTo>
                    <a:pt x="5727074" y="25400"/>
                  </a:moveTo>
                  <a:lnTo>
                    <a:pt x="10424" y="25400"/>
                  </a:lnTo>
                  <a:lnTo>
                    <a:pt x="10424" y="12700"/>
                  </a:lnTo>
                  <a:lnTo>
                    <a:pt x="20848" y="12700"/>
                  </a:lnTo>
                  <a:lnTo>
                    <a:pt x="20848" y="1138301"/>
                  </a:lnTo>
                  <a:lnTo>
                    <a:pt x="10424" y="1138301"/>
                  </a:lnTo>
                  <a:lnTo>
                    <a:pt x="10424" y="1125601"/>
                  </a:lnTo>
                  <a:lnTo>
                    <a:pt x="5727074" y="1125601"/>
                  </a:lnTo>
                  <a:lnTo>
                    <a:pt x="5727074" y="1138301"/>
                  </a:lnTo>
                  <a:lnTo>
                    <a:pt x="5716650" y="1138301"/>
                  </a:lnTo>
                  <a:lnTo>
                    <a:pt x="5716650" y="12700"/>
                  </a:lnTo>
                  <a:lnTo>
                    <a:pt x="5727074" y="12700"/>
                  </a:lnTo>
                  <a:lnTo>
                    <a:pt x="5727074" y="25400"/>
                  </a:lnTo>
                  <a:moveTo>
                    <a:pt x="5727074" y="0"/>
                  </a:moveTo>
                  <a:cubicBezTo>
                    <a:pt x="5732807" y="0"/>
                    <a:pt x="5737499" y="5715"/>
                    <a:pt x="5737499" y="12700"/>
                  </a:cubicBezTo>
                  <a:lnTo>
                    <a:pt x="5737499" y="1138301"/>
                  </a:lnTo>
                  <a:cubicBezTo>
                    <a:pt x="5737499" y="1145286"/>
                    <a:pt x="5732807" y="1151001"/>
                    <a:pt x="5727074" y="1151001"/>
                  </a:cubicBezTo>
                  <a:lnTo>
                    <a:pt x="10424" y="1151001"/>
                  </a:lnTo>
                  <a:cubicBezTo>
                    <a:pt x="4691" y="1151001"/>
                    <a:pt x="0" y="1145286"/>
                    <a:pt x="0" y="1138301"/>
                  </a:cubicBezTo>
                  <a:lnTo>
                    <a:pt x="0" y="12700"/>
                  </a:lnTo>
                  <a:cubicBezTo>
                    <a:pt x="0" y="5715"/>
                    <a:pt x="4691" y="0"/>
                    <a:pt x="10424" y="0"/>
                  </a:cubicBezTo>
                  <a:lnTo>
                    <a:pt x="5727074" y="0"/>
                  </a:lnTo>
                  <a:close/>
                </a:path>
              </a:pathLst>
            </a:custGeom>
            <a:solidFill>
              <a:srgbClr val="15110E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886014" y="9044001"/>
            <a:ext cx="1166048" cy="1162757"/>
            <a:chOff x="0" y="0"/>
            <a:chExt cx="862340" cy="8599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7330" y="82627"/>
            <a:ext cx="1288892" cy="1285255"/>
            <a:chOff x="0" y="0"/>
            <a:chExt cx="862340" cy="8599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816463" y="8904534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9" y="0"/>
                </a:lnTo>
                <a:lnTo>
                  <a:pt x="3228949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921770" y="4303130"/>
            <a:ext cx="3078878" cy="1680740"/>
          </a:xfrm>
          <a:custGeom>
            <a:avLst/>
            <a:gdLst/>
            <a:ahLst/>
            <a:cxnLst/>
            <a:rect l="l" t="t" r="r" b="b"/>
            <a:pathLst>
              <a:path w="3078878" h="1680740">
                <a:moveTo>
                  <a:pt x="0" y="0"/>
                </a:moveTo>
                <a:lnTo>
                  <a:pt x="3078878" y="0"/>
                </a:lnTo>
                <a:lnTo>
                  <a:pt x="3078878" y="1680740"/>
                </a:lnTo>
                <a:lnTo>
                  <a:pt x="0" y="168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2783957"/>
            <a:ext cx="13392643" cy="5323576"/>
          </a:xfrm>
          <a:custGeom>
            <a:avLst/>
            <a:gdLst/>
            <a:ahLst/>
            <a:cxnLst/>
            <a:rect l="l" t="t" r="r" b="b"/>
            <a:pathLst>
              <a:path w="13392643" h="5323576">
                <a:moveTo>
                  <a:pt x="0" y="0"/>
                </a:moveTo>
                <a:lnTo>
                  <a:pt x="13392643" y="0"/>
                </a:lnTo>
                <a:lnTo>
                  <a:pt x="13392643" y="5323575"/>
                </a:lnTo>
                <a:lnTo>
                  <a:pt x="0" y="532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99454" y="262481"/>
            <a:ext cx="15529086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4"/>
              </a:lnSpc>
            </a:pPr>
            <a:r>
              <a:rPr lang="en-US" sz="60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Challenges met working with the data</a:t>
            </a:r>
          </a:p>
          <a:p>
            <a:pPr algn="ctr">
              <a:lnSpc>
                <a:spcPts val="7274"/>
              </a:lnSpc>
            </a:pPr>
            <a:endParaRPr lang="en-US" sz="6061">
              <a:gradFill>
                <a:gsLst>
                  <a:gs pos="0">
                    <a:srgbClr val="B82D77">
                      <a:alpha val="100000"/>
                    </a:srgbClr>
                  </a:gs>
                  <a:gs pos="100000">
                    <a:srgbClr val="613659">
                      <a:alpha val="100000"/>
                    </a:srgbClr>
                  </a:gs>
                </a:gsLst>
                <a:lin ang="0"/>
              </a:gra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427196" y="1986506"/>
            <a:ext cx="713362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398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Data quality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1285" y="96793"/>
            <a:ext cx="1100983" cy="1095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000648" y="9217659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77497" y="8593797"/>
            <a:ext cx="12050519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1.7M+ records, 0 issues — fully clean and reliable.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Use full dataset, no cleaning needed.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: All metrics are verifiable; data is trustworthy.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14201" y="8897074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9" y="0"/>
                </a:lnTo>
                <a:lnTo>
                  <a:pt x="3228949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2797" y="31085"/>
            <a:ext cx="1083824" cy="1080765"/>
            <a:chOff x="0" y="0"/>
            <a:chExt cx="862340" cy="859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1349759"/>
            <a:ext cx="13849852" cy="9088966"/>
          </a:xfrm>
          <a:custGeom>
            <a:avLst/>
            <a:gdLst/>
            <a:ahLst/>
            <a:cxnLst/>
            <a:rect l="l" t="t" r="r" b="b"/>
            <a:pathLst>
              <a:path w="13849852" h="9088966">
                <a:moveTo>
                  <a:pt x="0" y="0"/>
                </a:moveTo>
                <a:lnTo>
                  <a:pt x="13849852" y="0"/>
                </a:lnTo>
                <a:lnTo>
                  <a:pt x="13849852" y="9088965"/>
                </a:lnTo>
                <a:lnTo>
                  <a:pt x="0" y="9088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9457" y="114234"/>
            <a:ext cx="15529086" cy="91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4"/>
              </a:lnSpc>
            </a:pPr>
            <a:r>
              <a:rPr lang="en-US" sz="60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Growth Story: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51312" y="250408"/>
            <a:ext cx="10677364" cy="64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2"/>
              </a:lnSpc>
            </a:pPr>
            <a:r>
              <a:rPr lang="en-US" sz="4252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Executive 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06628" y="1632317"/>
            <a:ext cx="448137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Quality is getting automatically alarmed by deformed and wrong data entries in real time ensuring clear analysis-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1803" y="36284"/>
            <a:ext cx="925812" cy="92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7"/>
              </a:lnSpc>
              <a:spcBef>
                <a:spcPct val="0"/>
              </a:spcBef>
            </a:pPr>
            <a:r>
              <a:rPr lang="en-US" sz="517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06628" y="4099292"/>
            <a:ext cx="4605472" cy="309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3-year growth: sessions 34x, orders 90x, revenue $1.94M.</a:t>
            </a:r>
          </a:p>
          <a:p>
            <a:pPr marL="496571" lvl="1" indent="-24828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Anchor the story on this compounding growth.</a:t>
            </a:r>
          </a:p>
          <a:p>
            <a:pPr marL="496571" lvl="1" indent="-24828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$1.94M revenue, 8.44% CVR, $5.30 RPS from near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5326" y="2491235"/>
            <a:ext cx="6070807" cy="2801072"/>
          </a:xfrm>
          <a:custGeom>
            <a:avLst/>
            <a:gdLst/>
            <a:ahLst/>
            <a:cxnLst/>
            <a:rect l="l" t="t" r="r" b="b"/>
            <a:pathLst>
              <a:path w="6070807" h="2801072">
                <a:moveTo>
                  <a:pt x="0" y="0"/>
                </a:moveTo>
                <a:lnTo>
                  <a:pt x="6070806" y="0"/>
                </a:lnTo>
                <a:lnTo>
                  <a:pt x="6070806" y="2801072"/>
                </a:lnTo>
                <a:lnTo>
                  <a:pt x="0" y="2801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926582" y="2530384"/>
            <a:ext cx="1742910" cy="916460"/>
          </a:xfrm>
          <a:custGeom>
            <a:avLst/>
            <a:gdLst/>
            <a:ahLst/>
            <a:cxnLst/>
            <a:rect l="l" t="t" r="r" b="b"/>
            <a:pathLst>
              <a:path w="1742910" h="916460">
                <a:moveTo>
                  <a:pt x="0" y="0"/>
                </a:moveTo>
                <a:lnTo>
                  <a:pt x="1742909" y="0"/>
                </a:lnTo>
                <a:lnTo>
                  <a:pt x="1742909" y="916460"/>
                </a:lnTo>
                <a:lnTo>
                  <a:pt x="0" y="916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926582" y="3446844"/>
            <a:ext cx="1742910" cy="929004"/>
          </a:xfrm>
          <a:custGeom>
            <a:avLst/>
            <a:gdLst/>
            <a:ahLst/>
            <a:cxnLst/>
            <a:rect l="l" t="t" r="r" b="b"/>
            <a:pathLst>
              <a:path w="1742910" h="929004">
                <a:moveTo>
                  <a:pt x="0" y="0"/>
                </a:moveTo>
                <a:lnTo>
                  <a:pt x="1742909" y="0"/>
                </a:lnTo>
                <a:lnTo>
                  <a:pt x="1742909" y="929004"/>
                </a:lnTo>
                <a:lnTo>
                  <a:pt x="0" y="9290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926582" y="4375848"/>
            <a:ext cx="1742910" cy="916460"/>
          </a:xfrm>
          <a:custGeom>
            <a:avLst/>
            <a:gdLst/>
            <a:ahLst/>
            <a:cxnLst/>
            <a:rect l="l" t="t" r="r" b="b"/>
            <a:pathLst>
              <a:path w="1742910" h="916460">
                <a:moveTo>
                  <a:pt x="0" y="0"/>
                </a:moveTo>
                <a:lnTo>
                  <a:pt x="1742909" y="0"/>
                </a:lnTo>
                <a:lnTo>
                  <a:pt x="1742909" y="916459"/>
                </a:lnTo>
                <a:lnTo>
                  <a:pt x="0" y="9164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06791" y="8905566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7"/>
                </a:lnTo>
                <a:lnTo>
                  <a:pt x="0" y="17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8289" y="6501982"/>
            <a:ext cx="6746627" cy="3150831"/>
          </a:xfrm>
          <a:custGeom>
            <a:avLst/>
            <a:gdLst/>
            <a:ahLst/>
            <a:cxnLst/>
            <a:rect l="l" t="t" r="r" b="b"/>
            <a:pathLst>
              <a:path w="6746627" h="3150831">
                <a:moveTo>
                  <a:pt x="0" y="0"/>
                </a:moveTo>
                <a:lnTo>
                  <a:pt x="6746627" y="0"/>
                </a:lnTo>
                <a:lnTo>
                  <a:pt x="6746627" y="3150831"/>
                </a:lnTo>
                <a:lnTo>
                  <a:pt x="0" y="31508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80879" y="89646"/>
            <a:ext cx="1199107" cy="1195722"/>
            <a:chOff x="0" y="0"/>
            <a:chExt cx="862340" cy="8599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326" y="1752491"/>
            <a:ext cx="516800" cy="515341"/>
            <a:chOff x="0" y="0"/>
            <a:chExt cx="862340" cy="8599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0879" y="5787607"/>
            <a:ext cx="516800" cy="515341"/>
            <a:chOff x="0" y="0"/>
            <a:chExt cx="862340" cy="8599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5787607"/>
            <a:ext cx="323686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398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 Efficiency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6521" y="330842"/>
            <a:ext cx="18682697" cy="81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462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Efficiency — CVR, AOV, Revenue Per Session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6917" y="1777361"/>
            <a:ext cx="492418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984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Growth Story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8289" y="91545"/>
            <a:ext cx="1024288" cy="102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7"/>
              </a:lnSpc>
              <a:spcBef>
                <a:spcPct val="0"/>
              </a:spcBef>
            </a:pPr>
            <a:r>
              <a:rPr lang="en-US" sz="572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72255" y="2701146"/>
            <a:ext cx="5765525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283" lvl="1" indent="-281141" algn="l">
              <a:lnSpc>
                <a:spcPts val="3125"/>
              </a:lnSpc>
              <a:buFont typeface="Arial"/>
              <a:buChar char="•"/>
            </a:pPr>
            <a:r>
              <a:rPr lang="en-US" sz="2604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Three key inflection points drove growth.</a:t>
            </a:r>
          </a:p>
          <a:p>
            <a:pPr marL="562283" lvl="1" indent="-281141" algn="l">
              <a:lnSpc>
                <a:spcPts val="3125"/>
              </a:lnSpc>
              <a:buFont typeface="Arial"/>
              <a:buChar char="•"/>
            </a:pPr>
            <a:r>
              <a:rPr lang="en-US" sz="2604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Highlight these points on the chart.</a:t>
            </a:r>
          </a:p>
          <a:p>
            <a:pPr marL="562283" lvl="1" indent="-281141" algn="l">
              <a:lnSpc>
                <a:spcPts val="3125"/>
              </a:lnSpc>
              <a:buFont typeface="Arial"/>
              <a:buChar char="•"/>
            </a:pPr>
            <a:r>
              <a:rPr lang="en-US" sz="2604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CVR nearly tripled to 8.44% in 3 years.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72255" y="6886773"/>
            <a:ext cx="5973107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CVR, AOV, RPS all improved together.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: Track RPS as main health metric.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Visitor value 3.4x higher than 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06791" y="8905566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7"/>
                </a:lnTo>
                <a:lnTo>
                  <a:pt x="0" y="17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80879" y="89646"/>
            <a:ext cx="1199107" cy="1195722"/>
            <a:chOff x="0" y="0"/>
            <a:chExt cx="862340" cy="859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5326" y="1752491"/>
            <a:ext cx="516800" cy="515341"/>
            <a:chOff x="0" y="0"/>
            <a:chExt cx="862340" cy="8599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68289" y="2720196"/>
            <a:ext cx="7280148" cy="3384630"/>
          </a:xfrm>
          <a:custGeom>
            <a:avLst/>
            <a:gdLst/>
            <a:ahLst/>
            <a:cxnLst/>
            <a:rect l="l" t="t" r="r" b="b"/>
            <a:pathLst>
              <a:path w="7280148" h="3384630">
                <a:moveTo>
                  <a:pt x="0" y="0"/>
                </a:moveTo>
                <a:lnTo>
                  <a:pt x="7280148" y="0"/>
                </a:lnTo>
                <a:lnTo>
                  <a:pt x="7280148" y="3384630"/>
                </a:lnTo>
                <a:lnTo>
                  <a:pt x="0" y="3384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417880" y="4421892"/>
            <a:ext cx="2969080" cy="1682935"/>
          </a:xfrm>
          <a:custGeom>
            <a:avLst/>
            <a:gdLst/>
            <a:ahLst/>
            <a:cxnLst/>
            <a:rect l="l" t="t" r="r" b="b"/>
            <a:pathLst>
              <a:path w="2969080" h="1682935">
                <a:moveTo>
                  <a:pt x="0" y="0"/>
                </a:moveTo>
                <a:lnTo>
                  <a:pt x="2969080" y="0"/>
                </a:lnTo>
                <a:lnTo>
                  <a:pt x="2969080" y="1682934"/>
                </a:lnTo>
                <a:lnTo>
                  <a:pt x="0" y="168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0" y="2697849"/>
            <a:ext cx="2969080" cy="1669252"/>
          </a:xfrm>
          <a:custGeom>
            <a:avLst/>
            <a:gdLst/>
            <a:ahLst/>
            <a:cxnLst/>
            <a:rect l="l" t="t" r="r" b="b"/>
            <a:pathLst>
              <a:path w="2969080" h="1669252">
                <a:moveTo>
                  <a:pt x="0" y="0"/>
                </a:moveTo>
                <a:lnTo>
                  <a:pt x="2969080" y="0"/>
                </a:lnTo>
                <a:lnTo>
                  <a:pt x="2969080" y="1669252"/>
                </a:lnTo>
                <a:lnTo>
                  <a:pt x="0" y="1669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17880" y="2697849"/>
            <a:ext cx="2969080" cy="1682935"/>
          </a:xfrm>
          <a:custGeom>
            <a:avLst/>
            <a:gdLst/>
            <a:ahLst/>
            <a:cxnLst/>
            <a:rect l="l" t="t" r="r" b="b"/>
            <a:pathLst>
              <a:path w="2969080" h="1682935">
                <a:moveTo>
                  <a:pt x="0" y="0"/>
                </a:moveTo>
                <a:lnTo>
                  <a:pt x="2969080" y="0"/>
                </a:lnTo>
                <a:lnTo>
                  <a:pt x="2969080" y="1682935"/>
                </a:lnTo>
                <a:lnTo>
                  <a:pt x="0" y="16829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4467301"/>
            <a:ext cx="2969080" cy="1592115"/>
          </a:xfrm>
          <a:custGeom>
            <a:avLst/>
            <a:gdLst/>
            <a:ahLst/>
            <a:cxnLst/>
            <a:rect l="l" t="t" r="r" b="b"/>
            <a:pathLst>
              <a:path w="2969080" h="1592115">
                <a:moveTo>
                  <a:pt x="0" y="0"/>
                </a:moveTo>
                <a:lnTo>
                  <a:pt x="2969080" y="0"/>
                </a:lnTo>
                <a:lnTo>
                  <a:pt x="2969080" y="1592116"/>
                </a:lnTo>
                <a:lnTo>
                  <a:pt x="0" y="1592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76521" y="330842"/>
            <a:ext cx="13963284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462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Efficiency — Channel Diversification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6917" y="1777361"/>
            <a:ext cx="720777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984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Channel Diversification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8289" y="91545"/>
            <a:ext cx="1024288" cy="1029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7"/>
              </a:lnSpc>
              <a:spcBef>
                <a:spcPct val="0"/>
              </a:spcBef>
            </a:pPr>
            <a:r>
              <a:rPr lang="en-US" sz="572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7509" y="6743001"/>
            <a:ext cx="1515928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gsearch nonbrand drives 60% of sessions — single point of failure.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Reduce paid retargeting; redirect budget to new acquisition.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Frees budget while maintaining traffic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06791" y="8905566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7"/>
                </a:lnTo>
                <a:lnTo>
                  <a:pt x="0" y="17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02443" y="1601365"/>
            <a:ext cx="516800" cy="515341"/>
            <a:chOff x="0" y="0"/>
            <a:chExt cx="862340" cy="859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02443" y="2382493"/>
            <a:ext cx="5643099" cy="4220926"/>
          </a:xfrm>
          <a:custGeom>
            <a:avLst/>
            <a:gdLst/>
            <a:ahLst/>
            <a:cxnLst/>
            <a:rect l="l" t="t" r="r" b="b"/>
            <a:pathLst>
              <a:path w="5643099" h="4220926">
                <a:moveTo>
                  <a:pt x="0" y="0"/>
                </a:moveTo>
                <a:lnTo>
                  <a:pt x="5643099" y="0"/>
                </a:lnTo>
                <a:lnTo>
                  <a:pt x="5643099" y="4220925"/>
                </a:lnTo>
                <a:lnTo>
                  <a:pt x="0" y="4220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40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95736" y="135136"/>
            <a:ext cx="1250985" cy="1285255"/>
            <a:chOff x="0" y="0"/>
            <a:chExt cx="836979" cy="8599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6979" cy="859907"/>
            </a:xfrm>
            <a:custGeom>
              <a:avLst/>
              <a:gdLst/>
              <a:ahLst/>
              <a:cxnLst/>
              <a:rect l="l" t="t" r="r" b="b"/>
              <a:pathLst>
                <a:path w="836979" h="859907">
                  <a:moveTo>
                    <a:pt x="418489" y="0"/>
                  </a:moveTo>
                  <a:cubicBezTo>
                    <a:pt x="187364" y="0"/>
                    <a:pt x="0" y="192497"/>
                    <a:pt x="0" y="429953"/>
                  </a:cubicBezTo>
                  <a:cubicBezTo>
                    <a:pt x="0" y="667410"/>
                    <a:pt x="187364" y="859907"/>
                    <a:pt x="418489" y="859907"/>
                  </a:cubicBezTo>
                  <a:cubicBezTo>
                    <a:pt x="649615" y="859907"/>
                    <a:pt x="836979" y="667410"/>
                    <a:pt x="836979" y="429953"/>
                  </a:cubicBezTo>
                  <a:cubicBezTo>
                    <a:pt x="836979" y="192497"/>
                    <a:pt x="649615" y="0"/>
                    <a:pt x="4184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8467" y="52041"/>
              <a:ext cx="680045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87184" y="1601365"/>
            <a:ext cx="516800" cy="515341"/>
            <a:chOff x="0" y="0"/>
            <a:chExt cx="862340" cy="8599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687184" y="2382493"/>
            <a:ext cx="6845574" cy="4220926"/>
          </a:xfrm>
          <a:custGeom>
            <a:avLst/>
            <a:gdLst/>
            <a:ahLst/>
            <a:cxnLst/>
            <a:rect l="l" t="t" r="r" b="b"/>
            <a:pathLst>
              <a:path w="6845574" h="4220926">
                <a:moveTo>
                  <a:pt x="0" y="0"/>
                </a:moveTo>
                <a:lnTo>
                  <a:pt x="6845574" y="0"/>
                </a:lnTo>
                <a:lnTo>
                  <a:pt x="6845574" y="4220925"/>
                </a:lnTo>
                <a:lnTo>
                  <a:pt x="0" y="4220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03563" y="1601365"/>
            <a:ext cx="463110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1"/>
              </a:lnSpc>
            </a:pPr>
            <a:r>
              <a:rPr lang="en-US" sz="3943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Channel Mix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3369" y="390525"/>
            <a:ext cx="1047378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4"/>
              </a:lnSpc>
            </a:pPr>
            <a:r>
              <a:rPr lang="en-US" sz="60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Channel Mix &amp; Resiliance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6927" y="149302"/>
            <a:ext cx="1068603" cy="109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88303" y="1601365"/>
            <a:ext cx="558803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1"/>
              </a:lnSpc>
            </a:pPr>
            <a:r>
              <a:rPr lang="en-US" sz="3943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Channel Resiliance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0843" y="7698793"/>
            <a:ext cx="14569047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Free traffic grew to 35% by 2015.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Target 50% channel resilience, invest in brand &amp; content.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 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1/3 revenue survives without paid ads — strong brand equity.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200033" y="1292101"/>
            <a:ext cx="1224837" cy="1224837"/>
          </a:xfrm>
          <a:custGeom>
            <a:avLst/>
            <a:gdLst/>
            <a:ahLst/>
            <a:cxnLst/>
            <a:rect l="l" t="t" r="r" b="b"/>
            <a:pathLst>
              <a:path w="1224837" h="1224837">
                <a:moveTo>
                  <a:pt x="0" y="0"/>
                </a:moveTo>
                <a:lnTo>
                  <a:pt x="1224837" y="0"/>
                </a:lnTo>
                <a:lnTo>
                  <a:pt x="1224837" y="1224836"/>
                </a:lnTo>
                <a:lnTo>
                  <a:pt x="0" y="122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99380" y="8906599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7109" y="2780338"/>
            <a:ext cx="5773339" cy="3643632"/>
          </a:xfrm>
          <a:custGeom>
            <a:avLst/>
            <a:gdLst/>
            <a:ahLst/>
            <a:cxnLst/>
            <a:rect l="l" t="t" r="r" b="b"/>
            <a:pathLst>
              <a:path w="5773339" h="3643632">
                <a:moveTo>
                  <a:pt x="0" y="0"/>
                </a:moveTo>
                <a:lnTo>
                  <a:pt x="5773340" y="0"/>
                </a:lnTo>
                <a:lnTo>
                  <a:pt x="5773340" y="3643632"/>
                </a:lnTo>
                <a:lnTo>
                  <a:pt x="0" y="3643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2" r="-672" b="-264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34230" y="2645956"/>
            <a:ext cx="3076804" cy="1649965"/>
          </a:xfrm>
          <a:custGeom>
            <a:avLst/>
            <a:gdLst/>
            <a:ahLst/>
            <a:cxnLst/>
            <a:rect l="l" t="t" r="r" b="b"/>
            <a:pathLst>
              <a:path w="3076804" h="1649965">
                <a:moveTo>
                  <a:pt x="0" y="0"/>
                </a:moveTo>
                <a:lnTo>
                  <a:pt x="3076804" y="0"/>
                </a:lnTo>
                <a:lnTo>
                  <a:pt x="3076804" y="1649965"/>
                </a:lnTo>
                <a:lnTo>
                  <a:pt x="0" y="1649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9" r="-549" b="-151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71458" y="123964"/>
            <a:ext cx="1288892" cy="1285255"/>
            <a:chOff x="0" y="0"/>
            <a:chExt cx="862340" cy="8599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549331" y="2645956"/>
            <a:ext cx="5284873" cy="3778014"/>
          </a:xfrm>
          <a:custGeom>
            <a:avLst/>
            <a:gdLst/>
            <a:ahLst/>
            <a:cxnLst/>
            <a:rect l="l" t="t" r="r" b="b"/>
            <a:pathLst>
              <a:path w="5284873" h="3778014">
                <a:moveTo>
                  <a:pt x="0" y="0"/>
                </a:moveTo>
                <a:lnTo>
                  <a:pt x="5284874" y="0"/>
                </a:lnTo>
                <a:lnTo>
                  <a:pt x="5284874" y="3778014"/>
                </a:lnTo>
                <a:lnTo>
                  <a:pt x="0" y="3778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81" r="-1875" b="-2608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966964" y="4534963"/>
            <a:ext cx="3211337" cy="1821816"/>
          </a:xfrm>
          <a:custGeom>
            <a:avLst/>
            <a:gdLst/>
            <a:ahLst/>
            <a:cxnLst/>
            <a:rect l="l" t="t" r="r" b="b"/>
            <a:pathLst>
              <a:path w="3211337" h="1821816">
                <a:moveTo>
                  <a:pt x="0" y="0"/>
                </a:moveTo>
                <a:lnTo>
                  <a:pt x="3211336" y="0"/>
                </a:lnTo>
                <a:lnTo>
                  <a:pt x="3211336" y="1821816"/>
                </a:lnTo>
                <a:lnTo>
                  <a:pt x="0" y="18218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20015" y="1914044"/>
            <a:ext cx="7341449" cy="56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2"/>
              </a:lnSpc>
            </a:pPr>
            <a:r>
              <a:rPr lang="en-US" sz="3826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Conversion Funnel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5677" y="369521"/>
            <a:ext cx="1552908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4"/>
              </a:lnSpc>
            </a:pPr>
            <a:r>
              <a:rPr lang="en-US" sz="56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Conversion Funnel - biggest revenue leak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5413" y="138131"/>
            <a:ext cx="1100983" cy="1095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7109" y="7466438"/>
            <a:ext cx="13721835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55% drop-off on product pages.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A/B test product page (CTA, urgency, social proof).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10pp lift ≈ $108K/year recovered revenue which is also 9k/month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978562">
            <a:off x="192201" y="1582832"/>
            <a:ext cx="930010" cy="930010"/>
          </a:xfrm>
          <a:custGeom>
            <a:avLst/>
            <a:gdLst/>
            <a:ahLst/>
            <a:cxnLst/>
            <a:rect l="l" t="t" r="r" b="b"/>
            <a:pathLst>
              <a:path w="930010" h="930010">
                <a:moveTo>
                  <a:pt x="0" y="0"/>
                </a:moveTo>
                <a:lnTo>
                  <a:pt x="930010" y="0"/>
                </a:lnTo>
                <a:lnTo>
                  <a:pt x="930010" y="930010"/>
                </a:lnTo>
                <a:lnTo>
                  <a:pt x="0" y="930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99380" y="8906599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8655" y="2551853"/>
            <a:ext cx="4552034" cy="1126099"/>
          </a:xfrm>
          <a:custGeom>
            <a:avLst/>
            <a:gdLst/>
            <a:ahLst/>
            <a:cxnLst/>
            <a:rect l="l" t="t" r="r" b="b"/>
            <a:pathLst>
              <a:path w="4552034" h="1126099">
                <a:moveTo>
                  <a:pt x="0" y="0"/>
                </a:moveTo>
                <a:lnTo>
                  <a:pt x="4552034" y="0"/>
                </a:lnTo>
                <a:lnTo>
                  <a:pt x="4552034" y="1126098"/>
                </a:lnTo>
                <a:lnTo>
                  <a:pt x="0" y="1126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7" t="-17081" r="-1885" b="-22256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5079" y="3677951"/>
            <a:ext cx="4559185" cy="1095276"/>
          </a:xfrm>
          <a:custGeom>
            <a:avLst/>
            <a:gdLst/>
            <a:ahLst/>
            <a:cxnLst/>
            <a:rect l="l" t="t" r="r" b="b"/>
            <a:pathLst>
              <a:path w="4559185" h="1095276">
                <a:moveTo>
                  <a:pt x="0" y="0"/>
                </a:moveTo>
                <a:lnTo>
                  <a:pt x="4559186" y="0"/>
                </a:lnTo>
                <a:lnTo>
                  <a:pt x="4559186" y="1095276"/>
                </a:lnTo>
                <a:lnTo>
                  <a:pt x="0" y="1095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6" t="-129657" r="-1725" b="-11954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78655" y="4773227"/>
            <a:ext cx="4552034" cy="1089775"/>
          </a:xfrm>
          <a:custGeom>
            <a:avLst/>
            <a:gdLst/>
            <a:ahLst/>
            <a:cxnLst/>
            <a:rect l="l" t="t" r="r" b="b"/>
            <a:pathLst>
              <a:path w="4552034" h="1089775">
                <a:moveTo>
                  <a:pt x="0" y="0"/>
                </a:moveTo>
                <a:lnTo>
                  <a:pt x="4552034" y="0"/>
                </a:lnTo>
                <a:lnTo>
                  <a:pt x="4552034" y="1089775"/>
                </a:lnTo>
                <a:lnTo>
                  <a:pt x="0" y="1089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7" t="-241307" r="-1885" b="-965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079" y="6914308"/>
            <a:ext cx="4596377" cy="3117805"/>
          </a:xfrm>
          <a:custGeom>
            <a:avLst/>
            <a:gdLst/>
            <a:ahLst/>
            <a:cxnLst/>
            <a:rect l="l" t="t" r="r" b="b"/>
            <a:pathLst>
              <a:path w="4596377" h="3117805">
                <a:moveTo>
                  <a:pt x="0" y="0"/>
                </a:moveTo>
                <a:lnTo>
                  <a:pt x="4596377" y="0"/>
                </a:lnTo>
                <a:lnTo>
                  <a:pt x="4596377" y="3117804"/>
                </a:lnTo>
                <a:lnTo>
                  <a:pt x="0" y="311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" r="-3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22679" y="6187465"/>
            <a:ext cx="7520365" cy="598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392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Landing Page A/B Test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6060" y="0"/>
            <a:ext cx="1288892" cy="1285255"/>
            <a:chOff x="0" y="0"/>
            <a:chExt cx="862340" cy="8599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7978562">
            <a:off x="192201" y="6055203"/>
            <a:ext cx="930010" cy="930010"/>
          </a:xfrm>
          <a:custGeom>
            <a:avLst/>
            <a:gdLst/>
            <a:ahLst/>
            <a:cxnLst/>
            <a:rect l="l" t="t" r="r" b="b"/>
            <a:pathLst>
              <a:path w="930010" h="930010">
                <a:moveTo>
                  <a:pt x="0" y="0"/>
                </a:moveTo>
                <a:lnTo>
                  <a:pt x="930010" y="0"/>
                </a:lnTo>
                <a:lnTo>
                  <a:pt x="930010" y="930010"/>
                </a:lnTo>
                <a:lnTo>
                  <a:pt x="0" y="930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45473" y="2551853"/>
            <a:ext cx="2884360" cy="1569628"/>
          </a:xfrm>
          <a:custGeom>
            <a:avLst/>
            <a:gdLst/>
            <a:ahLst/>
            <a:cxnLst/>
            <a:rect l="l" t="t" r="r" b="b"/>
            <a:pathLst>
              <a:path w="2884360" h="1569628">
                <a:moveTo>
                  <a:pt x="0" y="0"/>
                </a:moveTo>
                <a:lnTo>
                  <a:pt x="2884360" y="0"/>
                </a:lnTo>
                <a:lnTo>
                  <a:pt x="2884360" y="1569628"/>
                </a:lnTo>
                <a:lnTo>
                  <a:pt x="0" y="15696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055849" y="7433977"/>
            <a:ext cx="2884360" cy="1619051"/>
          </a:xfrm>
          <a:custGeom>
            <a:avLst/>
            <a:gdLst/>
            <a:ahLst/>
            <a:cxnLst/>
            <a:rect l="l" t="t" r="r" b="b"/>
            <a:pathLst>
              <a:path w="2884360" h="1619051">
                <a:moveTo>
                  <a:pt x="0" y="0"/>
                </a:moveTo>
                <a:lnTo>
                  <a:pt x="2884359" y="0"/>
                </a:lnTo>
                <a:lnTo>
                  <a:pt x="2884359" y="1619050"/>
                </a:lnTo>
                <a:lnTo>
                  <a:pt x="0" y="1619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055849" y="4436629"/>
            <a:ext cx="2873984" cy="1595130"/>
          </a:xfrm>
          <a:custGeom>
            <a:avLst/>
            <a:gdLst/>
            <a:ahLst/>
            <a:cxnLst/>
            <a:rect l="l" t="t" r="r" b="b"/>
            <a:pathLst>
              <a:path w="2873984" h="1595130">
                <a:moveTo>
                  <a:pt x="0" y="0"/>
                </a:moveTo>
                <a:lnTo>
                  <a:pt x="2873984" y="0"/>
                </a:lnTo>
                <a:lnTo>
                  <a:pt x="2873984" y="1595130"/>
                </a:lnTo>
                <a:lnTo>
                  <a:pt x="0" y="15951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53340" y="1743037"/>
            <a:ext cx="753648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928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Billing Page A/B Test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0279" y="245556"/>
            <a:ext cx="1274528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4"/>
              </a:lnSpc>
            </a:pPr>
            <a:r>
              <a:rPr lang="en-US" sz="56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Landing &amp; Billing Pages A/B Test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0015" y="14166"/>
            <a:ext cx="1100983" cy="109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24427" y="7100502"/>
            <a:ext cx="8262597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002" lvl="1" indent="-264001" algn="l">
              <a:lnSpc>
                <a:spcPts val="2934"/>
              </a:lnSpc>
              <a:buFont typeface="Arial"/>
              <a:buChar char="•"/>
            </a:pPr>
            <a:r>
              <a:rPr lang="en-US" sz="244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44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/lander-1 lifted conversion 0.87pp → $3.8K/month.</a:t>
            </a:r>
          </a:p>
          <a:p>
            <a:pPr marL="528002" lvl="1" indent="-264001" algn="l">
              <a:lnSpc>
                <a:spcPts val="2934"/>
              </a:lnSpc>
              <a:buFont typeface="Arial"/>
              <a:buChar char="•"/>
            </a:pPr>
            <a:r>
              <a:rPr lang="en-US" sz="244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44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Use same method for product page tests.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Ongoing revenue: $31K/month from two experiments.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24427" y="3095852"/>
            <a:ext cx="7534873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/billing-2 lifts revenue 37% → $27.5K/month.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Keep design; monitor CVR.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Highest-value experiment in dataset.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997" y="388497"/>
            <a:ext cx="1113589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4"/>
              </a:lnSpc>
            </a:pPr>
            <a:r>
              <a:rPr lang="en-US" sz="56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Product Revenue &amp; Margin</a:t>
            </a:r>
          </a:p>
        </p:txBody>
      </p:sp>
      <p:sp>
        <p:nvSpPr>
          <p:cNvPr id="6" name="Freeform 6"/>
          <p:cNvSpPr/>
          <p:nvPr/>
        </p:nvSpPr>
        <p:spPr>
          <a:xfrm rot="7978562">
            <a:off x="307877" y="1613538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5" y="0"/>
                </a:lnTo>
                <a:lnTo>
                  <a:pt x="851205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95134" y="8904181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0059" y="85725"/>
            <a:ext cx="1288892" cy="1285255"/>
            <a:chOff x="0" y="0"/>
            <a:chExt cx="862340" cy="8599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03395" y="2584701"/>
            <a:ext cx="6812831" cy="2985797"/>
          </a:xfrm>
          <a:custGeom>
            <a:avLst/>
            <a:gdLst/>
            <a:ahLst/>
            <a:cxnLst/>
            <a:rect l="l" t="t" r="r" b="b"/>
            <a:pathLst>
              <a:path w="6812831" h="2985797">
                <a:moveTo>
                  <a:pt x="0" y="0"/>
                </a:moveTo>
                <a:lnTo>
                  <a:pt x="6812831" y="0"/>
                </a:lnTo>
                <a:lnTo>
                  <a:pt x="6812831" y="2985797"/>
                </a:lnTo>
                <a:lnTo>
                  <a:pt x="0" y="2985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3395" y="6579567"/>
            <a:ext cx="7094107" cy="3084395"/>
          </a:xfrm>
          <a:custGeom>
            <a:avLst/>
            <a:gdLst/>
            <a:ahLst/>
            <a:cxnLst/>
            <a:rect l="l" t="t" r="r" b="b"/>
            <a:pathLst>
              <a:path w="7094107" h="3084395">
                <a:moveTo>
                  <a:pt x="0" y="0"/>
                </a:moveTo>
                <a:lnTo>
                  <a:pt x="7094108" y="0"/>
                </a:lnTo>
                <a:lnTo>
                  <a:pt x="7094108" y="3084395"/>
                </a:lnTo>
                <a:lnTo>
                  <a:pt x="0" y="30843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7978562">
            <a:off x="358903" y="5672546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4" y="0"/>
                </a:lnTo>
                <a:lnTo>
                  <a:pt x="851204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529768" y="2526473"/>
            <a:ext cx="6750829" cy="2932059"/>
          </a:xfrm>
          <a:custGeom>
            <a:avLst/>
            <a:gdLst/>
            <a:ahLst/>
            <a:cxnLst/>
            <a:rect l="l" t="t" r="r" b="b"/>
            <a:pathLst>
              <a:path w="6750829" h="2932059">
                <a:moveTo>
                  <a:pt x="0" y="0"/>
                </a:moveTo>
                <a:lnTo>
                  <a:pt x="6750829" y="0"/>
                </a:lnTo>
                <a:lnTo>
                  <a:pt x="6750829" y="2932059"/>
                </a:lnTo>
                <a:lnTo>
                  <a:pt x="0" y="2932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410332" y="5553231"/>
            <a:ext cx="2767381" cy="1482998"/>
          </a:xfrm>
          <a:custGeom>
            <a:avLst/>
            <a:gdLst/>
            <a:ahLst/>
            <a:cxnLst/>
            <a:rect l="l" t="t" r="r" b="b"/>
            <a:pathLst>
              <a:path w="2767381" h="1482998">
                <a:moveTo>
                  <a:pt x="0" y="0"/>
                </a:moveTo>
                <a:lnTo>
                  <a:pt x="2767380" y="0"/>
                </a:lnTo>
                <a:lnTo>
                  <a:pt x="2767380" y="1482998"/>
                </a:lnTo>
                <a:lnTo>
                  <a:pt x="0" y="1482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482512" y="5543706"/>
            <a:ext cx="2800123" cy="1534683"/>
          </a:xfrm>
          <a:custGeom>
            <a:avLst/>
            <a:gdLst/>
            <a:ahLst/>
            <a:cxnLst/>
            <a:rect l="l" t="t" r="r" b="b"/>
            <a:pathLst>
              <a:path w="2800123" h="1534683">
                <a:moveTo>
                  <a:pt x="0" y="0"/>
                </a:moveTo>
                <a:lnTo>
                  <a:pt x="2800124" y="0"/>
                </a:lnTo>
                <a:lnTo>
                  <a:pt x="2800124" y="1534683"/>
                </a:lnTo>
                <a:lnTo>
                  <a:pt x="0" y="1534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462633" y="5534861"/>
            <a:ext cx="2738149" cy="1519738"/>
          </a:xfrm>
          <a:custGeom>
            <a:avLst/>
            <a:gdLst/>
            <a:ahLst/>
            <a:cxnLst/>
            <a:rect l="l" t="t" r="r" b="b"/>
            <a:pathLst>
              <a:path w="2738149" h="1519738">
                <a:moveTo>
                  <a:pt x="0" y="0"/>
                </a:moveTo>
                <a:lnTo>
                  <a:pt x="2738149" y="0"/>
                </a:lnTo>
                <a:lnTo>
                  <a:pt x="2738149" y="1519738"/>
                </a:lnTo>
                <a:lnTo>
                  <a:pt x="0" y="15197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28951" y="1772441"/>
            <a:ext cx="682315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556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Product Revenue  &amp; Share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4013" y="99891"/>
            <a:ext cx="1100983" cy="109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8951" y="5831449"/>
            <a:ext cx="682315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556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Product Margin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39293" y="7320182"/>
            <a:ext cx="8949707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Mr. Fuzzy = 62% revenue pct, lowest margin; Sugar Panda = high margin.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Shift marketing to high-margin products.</a:t>
            </a:r>
          </a:p>
          <a:p>
            <a:pPr marL="539751" lvl="1" indent="-269876" algn="l">
              <a:lnSpc>
                <a:spcPts val="3000"/>
              </a:lnSpc>
              <a:buFont typeface="Arial"/>
              <a:buChar char="•"/>
            </a:pPr>
            <a:r>
              <a:rPr lang="en-US" sz="25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 </a:t>
            </a:r>
            <a:r>
              <a:rPr lang="en-US" sz="2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Portfolio margin improves with small shifts.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4997" y="388497"/>
            <a:ext cx="1113589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4"/>
              </a:lnSpc>
            </a:pPr>
            <a:r>
              <a:rPr lang="en-US" sz="5661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Refund Crisis &amp; Cross Selling</a:t>
            </a:r>
          </a:p>
        </p:txBody>
      </p:sp>
      <p:sp>
        <p:nvSpPr>
          <p:cNvPr id="6" name="Freeform 6"/>
          <p:cNvSpPr/>
          <p:nvPr/>
        </p:nvSpPr>
        <p:spPr>
          <a:xfrm>
            <a:off x="15795134" y="8904181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6"/>
                </a:lnTo>
                <a:lnTo>
                  <a:pt x="0" y="1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6702" y="2565875"/>
            <a:ext cx="6362744" cy="3233662"/>
          </a:xfrm>
          <a:custGeom>
            <a:avLst/>
            <a:gdLst/>
            <a:ahLst/>
            <a:cxnLst/>
            <a:rect l="l" t="t" r="r" b="b"/>
            <a:pathLst>
              <a:path w="6362744" h="3233662">
                <a:moveTo>
                  <a:pt x="0" y="0"/>
                </a:moveTo>
                <a:lnTo>
                  <a:pt x="6362744" y="0"/>
                </a:lnTo>
                <a:lnTo>
                  <a:pt x="6362744" y="3233662"/>
                </a:lnTo>
                <a:lnTo>
                  <a:pt x="0" y="3233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1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6702" y="7067754"/>
            <a:ext cx="6470524" cy="2928359"/>
          </a:xfrm>
          <a:custGeom>
            <a:avLst/>
            <a:gdLst/>
            <a:ahLst/>
            <a:cxnLst/>
            <a:rect l="l" t="t" r="r" b="b"/>
            <a:pathLst>
              <a:path w="6470524" h="2928359">
                <a:moveTo>
                  <a:pt x="0" y="0"/>
                </a:moveTo>
                <a:lnTo>
                  <a:pt x="6470524" y="0"/>
                </a:lnTo>
                <a:lnTo>
                  <a:pt x="6470524" y="2928358"/>
                </a:lnTo>
                <a:lnTo>
                  <a:pt x="0" y="2928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3" r="-363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40059" y="85725"/>
            <a:ext cx="1288892" cy="1285255"/>
            <a:chOff x="0" y="0"/>
            <a:chExt cx="862340" cy="8599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081743" y="7689867"/>
            <a:ext cx="2914786" cy="1568433"/>
          </a:xfrm>
          <a:custGeom>
            <a:avLst/>
            <a:gdLst/>
            <a:ahLst/>
            <a:cxnLst/>
            <a:rect l="l" t="t" r="r" b="b"/>
            <a:pathLst>
              <a:path w="2914786" h="1568433">
                <a:moveTo>
                  <a:pt x="0" y="0"/>
                </a:moveTo>
                <a:lnTo>
                  <a:pt x="2914786" y="0"/>
                </a:lnTo>
                <a:lnTo>
                  <a:pt x="2914786" y="1568433"/>
                </a:lnTo>
                <a:lnTo>
                  <a:pt x="0" y="1568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081743" y="3206526"/>
            <a:ext cx="2793739" cy="1568898"/>
          </a:xfrm>
          <a:custGeom>
            <a:avLst/>
            <a:gdLst/>
            <a:ahLst/>
            <a:cxnLst/>
            <a:rect l="l" t="t" r="r" b="b"/>
            <a:pathLst>
              <a:path w="2793739" h="1568898">
                <a:moveTo>
                  <a:pt x="0" y="0"/>
                </a:moveTo>
                <a:lnTo>
                  <a:pt x="2793739" y="0"/>
                </a:lnTo>
                <a:lnTo>
                  <a:pt x="2793739" y="1568898"/>
                </a:lnTo>
                <a:lnTo>
                  <a:pt x="0" y="1568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3035" y="1663627"/>
            <a:ext cx="841230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4"/>
              </a:lnSpc>
            </a:pPr>
            <a:r>
              <a:rPr lang="en-US" sz="3928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Refund Crisis + Supplier Story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4997" y="6275787"/>
            <a:ext cx="1170168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Cross-Sell Matrix — Mini Bear universal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09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4013" y="99891"/>
            <a:ext cx="1100983" cy="109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 u="none" strike="noStrike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18256" y="2828925"/>
            <a:ext cx="7168768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528" lvl="1" indent="-274764" algn="l">
              <a:lnSpc>
                <a:spcPts val="3054"/>
              </a:lnSpc>
              <a:buFont typeface="Arial"/>
              <a:buChar char="•"/>
            </a:pPr>
            <a:r>
              <a:rPr lang="en-US" sz="254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54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Refund spike resolved in &lt;30 days via new supplier.</a:t>
            </a:r>
          </a:p>
          <a:p>
            <a:pPr marL="549528" lvl="1" indent="-274764" algn="l">
              <a:lnSpc>
                <a:spcPts val="3054"/>
              </a:lnSpc>
              <a:buFont typeface="Arial"/>
              <a:buChar char="•"/>
            </a:pPr>
            <a:r>
              <a:rPr lang="en-US" sz="2545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54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Alert at 6% refund rate, monthly audits.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Fast data-driven fix prevented structural issues.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75482" y="7048704"/>
            <a:ext cx="6710125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Mini Bear attaches 21% across all products.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Make Mini Bear the sole cross-sell at checkout.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Lift to 28% ≈ $106K/year additional revenue.</a:t>
            </a:r>
          </a:p>
        </p:txBody>
      </p:sp>
      <p:sp>
        <p:nvSpPr>
          <p:cNvPr id="20" name="Freeform 20"/>
          <p:cNvSpPr/>
          <p:nvPr/>
        </p:nvSpPr>
        <p:spPr>
          <a:xfrm rot="7978562">
            <a:off x="307877" y="1613538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5" y="0"/>
                </a:lnTo>
                <a:lnTo>
                  <a:pt x="851205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7978562">
            <a:off x="175915" y="6159748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5" y="0"/>
                </a:lnTo>
                <a:lnTo>
                  <a:pt x="851205" y="851204"/>
                </a:lnTo>
                <a:lnTo>
                  <a:pt x="0" y="8512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770805" y="8871139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8" y="0"/>
                </a:lnTo>
                <a:lnTo>
                  <a:pt x="3228948" y="1759777"/>
                </a:lnTo>
                <a:lnTo>
                  <a:pt x="0" y="17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85879" y="2613215"/>
            <a:ext cx="4724799" cy="3158425"/>
          </a:xfrm>
          <a:custGeom>
            <a:avLst/>
            <a:gdLst/>
            <a:ahLst/>
            <a:cxnLst/>
            <a:rect l="l" t="t" r="r" b="b"/>
            <a:pathLst>
              <a:path w="4724799" h="3158425">
                <a:moveTo>
                  <a:pt x="0" y="0"/>
                </a:moveTo>
                <a:lnTo>
                  <a:pt x="4724799" y="0"/>
                </a:lnTo>
                <a:lnTo>
                  <a:pt x="4724799" y="3158426"/>
                </a:lnTo>
                <a:lnTo>
                  <a:pt x="0" y="3158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8994" y="7420957"/>
            <a:ext cx="6950258" cy="1374851"/>
          </a:xfrm>
          <a:custGeom>
            <a:avLst/>
            <a:gdLst/>
            <a:ahLst/>
            <a:cxnLst/>
            <a:rect l="l" t="t" r="r" b="b"/>
            <a:pathLst>
              <a:path w="6950258" h="1374851">
                <a:moveTo>
                  <a:pt x="0" y="0"/>
                </a:moveTo>
                <a:lnTo>
                  <a:pt x="6950258" y="0"/>
                </a:lnTo>
                <a:lnTo>
                  <a:pt x="6950258" y="1374852"/>
                </a:lnTo>
                <a:lnTo>
                  <a:pt x="0" y="1374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" t="-3767" r="-1117" b="-925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02472" y="2498414"/>
            <a:ext cx="6464954" cy="3257058"/>
          </a:xfrm>
          <a:custGeom>
            <a:avLst/>
            <a:gdLst/>
            <a:ahLst/>
            <a:cxnLst/>
            <a:rect l="l" t="t" r="r" b="b"/>
            <a:pathLst>
              <a:path w="6464954" h="3257058">
                <a:moveTo>
                  <a:pt x="0" y="0"/>
                </a:moveTo>
                <a:lnTo>
                  <a:pt x="6464953" y="0"/>
                </a:lnTo>
                <a:lnTo>
                  <a:pt x="6464953" y="3257059"/>
                </a:lnTo>
                <a:lnTo>
                  <a:pt x="0" y="3257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02157" y="4192428"/>
            <a:ext cx="2870795" cy="1573093"/>
          </a:xfrm>
          <a:custGeom>
            <a:avLst/>
            <a:gdLst/>
            <a:ahLst/>
            <a:cxnLst/>
            <a:rect l="l" t="t" r="r" b="b"/>
            <a:pathLst>
              <a:path w="2870795" h="1573093">
                <a:moveTo>
                  <a:pt x="0" y="0"/>
                </a:moveTo>
                <a:lnTo>
                  <a:pt x="2870795" y="0"/>
                </a:lnTo>
                <a:lnTo>
                  <a:pt x="2870795" y="1573093"/>
                </a:lnTo>
                <a:lnTo>
                  <a:pt x="0" y="15730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1982" r="-2603" b="-519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0199" y="642940"/>
            <a:ext cx="1664219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2"/>
              </a:lnSpc>
              <a:spcBef>
                <a:spcPct val="0"/>
              </a:spcBef>
            </a:pPr>
            <a:r>
              <a:rPr lang="en-US" sz="4660" b="1" u="none" strike="noStrike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Customer Loyalty &amp; Lifetime Value Analysis (2014)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5879" y="6143116"/>
            <a:ext cx="765660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041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Customer Lifetime Value (LTV) Analysis: New vs. Repeat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5879" y="1827316"/>
            <a:ext cx="753648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4"/>
              </a:lnSpc>
            </a:pPr>
            <a:r>
              <a:rPr lang="en-US" sz="3528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User Retention Breakdown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1897" y="1827316"/>
            <a:ext cx="870610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4"/>
              </a:lnSpc>
            </a:pPr>
            <a:r>
              <a:rPr lang="en-US" sz="352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 Conversion Efficiency by Channel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71104" y="352425"/>
            <a:ext cx="1288892" cy="1285255"/>
            <a:chOff x="0" y="0"/>
            <a:chExt cx="862340" cy="8599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82D77">
                    <a:alpha val="100000"/>
                  </a:srgbClr>
                </a:gs>
                <a:gs pos="100000">
                  <a:srgbClr val="61365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60479" tIns="60479" rIns="60479" bIns="60479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5058" y="366591"/>
            <a:ext cx="1100983" cy="109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615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3C3C3">
                        <a:alpha val="100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Barbra SemiCondensed"/>
                <a:ea typeface="Barbra SemiCondensed"/>
                <a:cs typeface="Barbra SemiCondensed"/>
                <a:sym typeface="Barbra SemiCondensed"/>
              </a:rPr>
              <a:t>09</a:t>
            </a:r>
          </a:p>
        </p:txBody>
      </p:sp>
      <p:sp>
        <p:nvSpPr>
          <p:cNvPr id="18" name="Freeform 18"/>
          <p:cNvSpPr/>
          <p:nvPr/>
        </p:nvSpPr>
        <p:spPr>
          <a:xfrm rot="7978562">
            <a:off x="307877" y="1613538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5" y="0"/>
                </a:lnTo>
                <a:lnTo>
                  <a:pt x="851205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7978562">
            <a:off x="460277" y="6203338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5" y="0"/>
                </a:lnTo>
                <a:lnTo>
                  <a:pt x="851205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7978562">
            <a:off x="8909421" y="1652056"/>
            <a:ext cx="851205" cy="851205"/>
          </a:xfrm>
          <a:custGeom>
            <a:avLst/>
            <a:gdLst/>
            <a:ahLst/>
            <a:cxnLst/>
            <a:rect l="l" t="t" r="r" b="b"/>
            <a:pathLst>
              <a:path w="851205" h="851205">
                <a:moveTo>
                  <a:pt x="0" y="0"/>
                </a:moveTo>
                <a:lnTo>
                  <a:pt x="851204" y="0"/>
                </a:lnTo>
                <a:lnTo>
                  <a:pt x="851204" y="851205"/>
                </a:lnTo>
                <a:lnTo>
                  <a:pt x="0" y="8512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702157" y="2613215"/>
            <a:ext cx="2852704" cy="1605361"/>
          </a:xfrm>
          <a:custGeom>
            <a:avLst/>
            <a:gdLst/>
            <a:ahLst/>
            <a:cxnLst/>
            <a:rect l="l" t="t" r="r" b="b"/>
            <a:pathLst>
              <a:path w="2852704" h="1605361">
                <a:moveTo>
                  <a:pt x="0" y="0"/>
                </a:moveTo>
                <a:lnTo>
                  <a:pt x="2852704" y="0"/>
                </a:lnTo>
                <a:lnTo>
                  <a:pt x="2852704" y="1605362"/>
                </a:lnTo>
                <a:lnTo>
                  <a:pt x="0" y="1605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05883" b="-3080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990976" y="9217511"/>
            <a:ext cx="996048" cy="75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>
                <a:solidFill>
                  <a:srgbClr val="051D40"/>
                </a:solidFill>
                <a:latin typeface="Barbra SemiCondensed"/>
                <a:ea typeface="Barbra SemiCondensed"/>
                <a:cs typeface="Barbra SemiCondensed"/>
                <a:sym typeface="Barbra SemiCondensed"/>
              </a:rPr>
              <a:t>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32420" y="9167284"/>
            <a:ext cx="3443407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4"/>
              </a:lnSpc>
              <a:spcBef>
                <a:spcPct val="0"/>
              </a:spcBef>
            </a:pPr>
            <a:r>
              <a:rPr lang="en-US" sz="2628">
                <a:solidFill>
                  <a:srgbClr val="AB7CAA"/>
                </a:solidFill>
                <a:latin typeface="Shrikhand"/>
                <a:ea typeface="Shrikhand"/>
                <a:cs typeface="Shrikhand"/>
                <a:sym typeface="Shrikhand"/>
              </a:rPr>
              <a:t>2.4x More Valuable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54521" y="6291128"/>
            <a:ext cx="7100552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Repeat users 2.42x more valuable; zero email capture.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Implement email capture, CRM, suppress retargeting for returners.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Increases repeat value and retention at minimal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76341" y="9043853"/>
            <a:ext cx="1166048" cy="1162757"/>
            <a:chOff x="0" y="0"/>
            <a:chExt cx="862340" cy="8599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340" cy="859907"/>
            </a:xfrm>
            <a:custGeom>
              <a:avLst/>
              <a:gdLst/>
              <a:ahLst/>
              <a:cxnLst/>
              <a:rect l="l" t="t" r="r" b="b"/>
              <a:pathLst>
                <a:path w="862340" h="859907">
                  <a:moveTo>
                    <a:pt x="431170" y="0"/>
                  </a:moveTo>
                  <a:cubicBezTo>
                    <a:pt x="193041" y="0"/>
                    <a:pt x="0" y="192497"/>
                    <a:pt x="0" y="429953"/>
                  </a:cubicBezTo>
                  <a:cubicBezTo>
                    <a:pt x="0" y="667410"/>
                    <a:pt x="193041" y="859907"/>
                    <a:pt x="431170" y="859907"/>
                  </a:cubicBezTo>
                  <a:cubicBezTo>
                    <a:pt x="669299" y="859907"/>
                    <a:pt x="862340" y="667410"/>
                    <a:pt x="862340" y="429953"/>
                  </a:cubicBezTo>
                  <a:cubicBezTo>
                    <a:pt x="862340" y="192497"/>
                    <a:pt x="669299" y="0"/>
                    <a:pt x="431170" y="0"/>
                  </a:cubicBezTo>
                  <a:close/>
                </a:path>
              </a:pathLst>
            </a:custGeom>
            <a:solidFill>
              <a:srgbClr val="AB7CA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80844" y="52041"/>
              <a:ext cx="700652" cy="727249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46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749882" y="8910598"/>
            <a:ext cx="3228948" cy="1759777"/>
          </a:xfrm>
          <a:custGeom>
            <a:avLst/>
            <a:gdLst/>
            <a:ahLst/>
            <a:cxnLst/>
            <a:rect l="l" t="t" r="r" b="b"/>
            <a:pathLst>
              <a:path w="3228948" h="1759777">
                <a:moveTo>
                  <a:pt x="0" y="0"/>
                </a:moveTo>
                <a:lnTo>
                  <a:pt x="3228949" y="0"/>
                </a:lnTo>
                <a:lnTo>
                  <a:pt x="3228949" y="1759777"/>
                </a:lnTo>
                <a:lnTo>
                  <a:pt x="0" y="17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691183"/>
            <a:ext cx="12436550" cy="8099303"/>
          </a:xfrm>
          <a:custGeom>
            <a:avLst/>
            <a:gdLst/>
            <a:ahLst/>
            <a:cxnLst/>
            <a:rect l="l" t="t" r="r" b="b"/>
            <a:pathLst>
              <a:path w="12436550" h="8099303">
                <a:moveTo>
                  <a:pt x="0" y="0"/>
                </a:moveTo>
                <a:lnTo>
                  <a:pt x="12436550" y="0"/>
                </a:lnTo>
                <a:lnTo>
                  <a:pt x="12436550" y="8099303"/>
                </a:lnTo>
                <a:lnTo>
                  <a:pt x="0" y="809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2173" y="161925"/>
            <a:ext cx="16755827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3"/>
              </a:lnSpc>
            </a:pPr>
            <a:r>
              <a:rPr lang="en-US" sz="5702">
                <a:gradFill>
                  <a:gsLst>
                    <a:gs pos="0">
                      <a:srgbClr val="B82D77">
                        <a:alpha val="100000"/>
                      </a:srgbClr>
                    </a:gs>
                    <a:gs pos="100000">
                      <a:srgbClr val="613659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Strategic Summary — HTML/CSS showcase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21809" y="1028700"/>
            <a:ext cx="10044382" cy="72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3"/>
              </a:lnSpc>
            </a:pPr>
            <a:r>
              <a:rPr lang="en-US" sz="4786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Shrikhand"/>
                <a:ea typeface="Shrikhand"/>
                <a:cs typeface="Shrikhand"/>
                <a:sym typeface="Shrikhand"/>
              </a:rPr>
              <a:t>Recommendation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90976" y="9255611"/>
            <a:ext cx="996048" cy="74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5"/>
              </a:lnSpc>
              <a:spcBef>
                <a:spcPct val="0"/>
              </a:spcBef>
            </a:pPr>
            <a:r>
              <a:rPr lang="en-US" sz="4272" b="1">
                <a:solidFill>
                  <a:srgbClr val="051D40"/>
                </a:solidFill>
                <a:latin typeface="Almarai Bold"/>
                <a:ea typeface="Almarai Bold"/>
                <a:cs typeface="Almarai Bold"/>
                <a:sym typeface="Almarai Bold"/>
              </a:rPr>
              <a:t>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29899" y="3964422"/>
            <a:ext cx="5712490" cy="353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Insight: 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Experiments generate $31K/month; 3 new actions ≈ $214K/year.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Recommendation: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Prioritize cart drop-off → cross-sell → email CRM.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gradFill>
                  <a:gsLst>
                    <a:gs pos="0">
                      <a:srgbClr val="9E4A69">
                        <a:alpha val="100000"/>
                      </a:srgbClr>
                    </a:gs>
                    <a:gs pos="100000">
                      <a:srgbClr val="211522">
                        <a:alpha val="100000"/>
                      </a:srgbClr>
                    </a:gs>
                  </a:gsLst>
                  <a:lin ang="2700000"/>
                </a:gradFill>
                <a:latin typeface="Archivo Black"/>
                <a:ea typeface="Archivo Black"/>
                <a:cs typeface="Archivo Black"/>
                <a:sym typeface="Archivo Black"/>
              </a:rPr>
              <a:t>Impact:</a:t>
            </a:r>
            <a:r>
              <a:rPr lang="en-US" sz="26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Total uplift ≈ $320K/year; all metrics dynamic and data-backed.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4660" y="0"/>
            <a:ext cx="18875229" cy="10287000"/>
          </a:xfrm>
          <a:custGeom>
            <a:avLst/>
            <a:gdLst/>
            <a:ahLst/>
            <a:cxnLst/>
            <a:rect l="l" t="t" r="r" b="b"/>
            <a:pathLst>
              <a:path w="18875229" h="10287000">
                <a:moveTo>
                  <a:pt x="0" y="0"/>
                </a:moveTo>
                <a:lnTo>
                  <a:pt x="18875229" y="0"/>
                </a:lnTo>
                <a:lnTo>
                  <a:pt x="1887522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93418" y="9258300"/>
            <a:ext cx="8299073" cy="881418"/>
            <a:chOff x="0" y="0"/>
            <a:chExt cx="2185764" cy="2321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85764" cy="232143"/>
            </a:xfrm>
            <a:custGeom>
              <a:avLst/>
              <a:gdLst/>
              <a:ahLst/>
              <a:cxnLst/>
              <a:rect l="l" t="t" r="r" b="b"/>
              <a:pathLst>
                <a:path w="2185764" h="232143">
                  <a:moveTo>
                    <a:pt x="15859" y="0"/>
                  </a:moveTo>
                  <a:lnTo>
                    <a:pt x="2169905" y="0"/>
                  </a:lnTo>
                  <a:cubicBezTo>
                    <a:pt x="2174111" y="0"/>
                    <a:pt x="2178145" y="1671"/>
                    <a:pt x="2181119" y="4645"/>
                  </a:cubicBezTo>
                  <a:cubicBezTo>
                    <a:pt x="2184093" y="7619"/>
                    <a:pt x="2185764" y="11653"/>
                    <a:pt x="2185764" y="15859"/>
                  </a:cubicBezTo>
                  <a:lnTo>
                    <a:pt x="2185764" y="216284"/>
                  </a:lnTo>
                  <a:cubicBezTo>
                    <a:pt x="2185764" y="220490"/>
                    <a:pt x="2184093" y="224524"/>
                    <a:pt x="2181119" y="227498"/>
                  </a:cubicBezTo>
                  <a:cubicBezTo>
                    <a:pt x="2178145" y="230472"/>
                    <a:pt x="2174111" y="232143"/>
                    <a:pt x="2169905" y="232143"/>
                  </a:cubicBezTo>
                  <a:lnTo>
                    <a:pt x="15859" y="232143"/>
                  </a:lnTo>
                  <a:cubicBezTo>
                    <a:pt x="11653" y="232143"/>
                    <a:pt x="7619" y="230472"/>
                    <a:pt x="4645" y="227498"/>
                  </a:cubicBezTo>
                  <a:cubicBezTo>
                    <a:pt x="1671" y="224524"/>
                    <a:pt x="0" y="220490"/>
                    <a:pt x="0" y="216284"/>
                  </a:cubicBezTo>
                  <a:lnTo>
                    <a:pt x="0" y="15859"/>
                  </a:lnTo>
                  <a:cubicBezTo>
                    <a:pt x="0" y="11653"/>
                    <a:pt x="1671" y="7619"/>
                    <a:pt x="4645" y="4645"/>
                  </a:cubicBezTo>
                  <a:cubicBezTo>
                    <a:pt x="7619" y="1671"/>
                    <a:pt x="11653" y="0"/>
                    <a:pt x="158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BEA">
                    <a:alpha val="100000"/>
                  </a:srgbClr>
                </a:gs>
                <a:gs pos="50000">
                  <a:srgbClr val="FFE1F1">
                    <a:alpha val="100000"/>
                  </a:srgbClr>
                </a:gs>
                <a:gs pos="100000">
                  <a:srgbClr val="E2F3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2185764" cy="2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592"/>
                </a:lnSpc>
                <a:spcBef>
                  <a:spcPct val="0"/>
                </a:spcBef>
              </a:pPr>
              <a:r>
                <a:rPr lang="en-US" sz="3826">
                  <a:gradFill>
                    <a:gsLst>
                      <a:gs pos="0">
                        <a:srgbClr val="9E4A69">
                          <a:alpha val="100000"/>
                        </a:srgbClr>
                      </a:gs>
                      <a:gs pos="100000">
                        <a:srgbClr val="211522">
                          <a:alpha val="100000"/>
                        </a:srgbClr>
                      </a:gs>
                    </a:gsLst>
                    <a:lin ang="2700000"/>
                  </a:gradFill>
                  <a:latin typeface="Shrikhand"/>
                  <a:ea typeface="Shrikhand"/>
                  <a:cs typeface="Shrikhand"/>
                  <a:sym typeface="Shrikhan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764</Words>
  <Application>Microsoft Office PowerPoint</Application>
  <PresentationFormat>Custom</PresentationFormat>
  <Paragraphs>157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Londrina Solid</vt:lpstr>
      <vt:lpstr>Barbra SemiCondensed</vt:lpstr>
      <vt:lpstr>Almarai Bold</vt:lpstr>
      <vt:lpstr>League Spartan</vt:lpstr>
      <vt:lpstr>Shrikhand</vt:lpstr>
      <vt:lpstr>Calibri</vt:lpstr>
      <vt:lpstr>Arial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Lead Funnel Infographics by Slidesgo.pptx</dc:title>
  <cp:lastModifiedBy>Esraa Yasser Sayed Ahmed Habib</cp:lastModifiedBy>
  <cp:revision>2</cp:revision>
  <dcterms:created xsi:type="dcterms:W3CDTF">2006-08-16T00:00:00Z</dcterms:created>
  <dcterms:modified xsi:type="dcterms:W3CDTF">2026-03-26T18:07:46Z</dcterms:modified>
  <dc:identifier>DAHE9lVHQXQ</dc:identifier>
</cp:coreProperties>
</file>